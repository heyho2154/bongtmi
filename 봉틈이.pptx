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58" r:id="rId5"/>
    <p:sldId id="268" r:id="rId6"/>
    <p:sldId id="271" r:id="rId7"/>
    <p:sldId id="272" r:id="rId8"/>
    <p:sldId id="259" r:id="rId9"/>
    <p:sldId id="260" r:id="rId10"/>
    <p:sldId id="261" r:id="rId11"/>
    <p:sldId id="264" r:id="rId12"/>
    <p:sldId id="270" r:id="rId13"/>
    <p:sldId id="262" r:id="rId14"/>
    <p:sldId id="263" r:id="rId15"/>
    <p:sldId id="267" r:id="rId16"/>
    <p:sldId id="269" r:id="rId17"/>
    <p:sldId id="27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BA7A7-57FB-4650-82A7-4BB91E8CAE47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0B9-D849-46B1-9E33-8EC01E1786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05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BA7A7-57FB-4650-82A7-4BB91E8CAE47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0B9-D849-46B1-9E33-8EC01E1786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47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BA7A7-57FB-4650-82A7-4BB91E8CAE47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0B9-D849-46B1-9E33-8EC01E1786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30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BA7A7-57FB-4650-82A7-4BB91E8CAE47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0B9-D849-46B1-9E33-8EC01E1786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922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BA7A7-57FB-4650-82A7-4BB91E8CAE47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0B9-D849-46B1-9E33-8EC01E1786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11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BA7A7-57FB-4650-82A7-4BB91E8CAE47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0B9-D849-46B1-9E33-8EC01E1786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66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BA7A7-57FB-4650-82A7-4BB91E8CAE47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0B9-D849-46B1-9E33-8EC01E1786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640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BA7A7-57FB-4650-82A7-4BB91E8CAE47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0B9-D849-46B1-9E33-8EC01E1786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422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BA7A7-57FB-4650-82A7-4BB91E8CAE47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0B9-D849-46B1-9E33-8EC01E1786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92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BA7A7-57FB-4650-82A7-4BB91E8CAE47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0B9-D849-46B1-9E33-8EC01E1786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695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BA7A7-57FB-4650-82A7-4BB91E8CAE47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790B9-D849-46B1-9E33-8EC01E1786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521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BA7A7-57FB-4650-82A7-4BB91E8CAE47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790B9-D849-46B1-9E33-8EC01E1786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04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jpe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.png"/><Relationship Id="rId3" Type="http://schemas.openxmlformats.org/officeDocument/2006/relationships/image" Target="../media/image20.png"/><Relationship Id="rId7" Type="http://schemas.openxmlformats.org/officeDocument/2006/relationships/image" Target="../media/image25.png"/><Relationship Id="rId12" Type="http://schemas.openxmlformats.org/officeDocument/2006/relationships/image" Target="../media/image1.png"/><Relationship Id="rId2" Type="http://schemas.openxmlformats.org/officeDocument/2006/relationships/image" Target="../media/image19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9.png"/><Relationship Id="rId5" Type="http://schemas.openxmlformats.org/officeDocument/2006/relationships/image" Target="../media/image22.png"/><Relationship Id="rId15" Type="http://schemas.openxmlformats.org/officeDocument/2006/relationships/image" Target="../media/image4.png"/><Relationship Id="rId10" Type="http://schemas.openxmlformats.org/officeDocument/2006/relationships/image" Target="../media/image28.png"/><Relationship Id="rId4" Type="http://schemas.openxmlformats.org/officeDocument/2006/relationships/image" Target="../media/image21.png"/><Relationship Id="rId9" Type="http://schemas.openxmlformats.org/officeDocument/2006/relationships/image" Target="../media/image27.png"/><Relationship Id="rId1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기획 구체화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봉틈이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5833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핵심주제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다양한 봉사 공고를 </a:t>
            </a:r>
            <a:r>
              <a:rPr lang="en-US" altLang="ko-KR" dirty="0"/>
              <a:t>AI </a:t>
            </a:r>
            <a:r>
              <a:rPr lang="ko-KR" altLang="en-US" dirty="0"/>
              <a:t>맞춤형으로 편하게 제시해준다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봉사 후기를 </a:t>
            </a:r>
            <a:r>
              <a:rPr lang="en-US" altLang="ko-KR" dirty="0"/>
              <a:t>SNS </a:t>
            </a:r>
            <a:r>
              <a:rPr lang="ko-KR" altLang="en-US" dirty="0"/>
              <a:t>형식으로 사람들과 공유</a:t>
            </a:r>
            <a:r>
              <a:rPr lang="en-US" altLang="ko-KR" dirty="0"/>
              <a:t>(</a:t>
            </a:r>
            <a:r>
              <a:rPr lang="ko-KR" altLang="en-US" dirty="0"/>
              <a:t>또는 기록</a:t>
            </a:r>
            <a:r>
              <a:rPr lang="en-US" altLang="ko-KR" dirty="0"/>
              <a:t>)</a:t>
            </a:r>
            <a:r>
              <a:rPr lang="ko-KR" altLang="en-US" dirty="0"/>
              <a:t>한다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A7CEA-DC64-4659-847C-1881999D64BF}"/>
              </a:ext>
            </a:extLst>
          </p:cNvPr>
          <p:cNvSpPr txBox="1"/>
          <p:nvPr/>
        </p:nvSpPr>
        <p:spPr>
          <a:xfrm>
            <a:off x="1343216" y="4426213"/>
            <a:ext cx="7498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*</a:t>
            </a:r>
            <a:r>
              <a:rPr lang="ko-KR" altLang="en-US" dirty="0">
                <a:solidFill>
                  <a:srgbClr val="C00000"/>
                </a:solidFill>
              </a:rPr>
              <a:t>피드백</a:t>
            </a:r>
            <a:r>
              <a:rPr lang="en-US" altLang="ko-KR" dirty="0">
                <a:solidFill>
                  <a:srgbClr val="C00000"/>
                </a:solidFill>
              </a:rPr>
              <a:t>: </a:t>
            </a:r>
            <a:r>
              <a:rPr lang="ko-KR" altLang="en-US" dirty="0">
                <a:solidFill>
                  <a:srgbClr val="C00000"/>
                </a:solidFill>
              </a:rPr>
              <a:t>그냥 </a:t>
            </a:r>
            <a:r>
              <a:rPr lang="en-US" altLang="ko-KR" dirty="0">
                <a:solidFill>
                  <a:srgbClr val="C00000"/>
                </a:solidFill>
              </a:rPr>
              <a:t>1365</a:t>
            </a:r>
            <a:r>
              <a:rPr lang="ko-KR" altLang="en-US" dirty="0">
                <a:solidFill>
                  <a:srgbClr val="C00000"/>
                </a:solidFill>
              </a:rPr>
              <a:t>가서 신청하지 </a:t>
            </a:r>
            <a:r>
              <a:rPr lang="ko-KR" altLang="en-US" dirty="0" err="1">
                <a:solidFill>
                  <a:srgbClr val="C00000"/>
                </a:solidFill>
              </a:rPr>
              <a:t>뭐하러</a:t>
            </a:r>
            <a:r>
              <a:rPr lang="en-US" altLang="ko-KR" dirty="0">
                <a:solidFill>
                  <a:srgbClr val="C00000"/>
                </a:solidFill>
              </a:rPr>
              <a:t>? </a:t>
            </a:r>
            <a:r>
              <a:rPr lang="ko-KR" altLang="en-US" dirty="0">
                <a:solidFill>
                  <a:srgbClr val="C00000"/>
                </a:solidFill>
              </a:rPr>
              <a:t>라는 의문점 해결필요</a:t>
            </a:r>
            <a:endParaRPr lang="en-US" altLang="ko-KR" dirty="0">
              <a:solidFill>
                <a:srgbClr val="C00000"/>
              </a:solidFill>
            </a:endParaRPr>
          </a:p>
          <a:p>
            <a:endParaRPr lang="en-US" altLang="ko-KR" u="sng" dirty="0">
              <a:solidFill>
                <a:srgbClr val="C00000"/>
              </a:solidFill>
            </a:endParaRPr>
          </a:p>
          <a:p>
            <a:r>
              <a:rPr lang="en-US" altLang="ko-KR" u="sng" dirty="0">
                <a:solidFill>
                  <a:srgbClr val="C00000"/>
                </a:solidFill>
              </a:rPr>
              <a:t>+) </a:t>
            </a:r>
            <a:r>
              <a:rPr lang="ko-KR" altLang="en-US" u="sng" dirty="0">
                <a:solidFill>
                  <a:srgbClr val="C00000"/>
                </a:solidFill>
              </a:rPr>
              <a:t>봉사를 구한다는 자원봉사자 구직도 넣으면 </a:t>
            </a:r>
            <a:r>
              <a:rPr lang="ko-KR" altLang="en-US" u="sng" dirty="0" err="1">
                <a:solidFill>
                  <a:srgbClr val="C00000"/>
                </a:solidFill>
              </a:rPr>
              <a:t>좋을듯</a:t>
            </a:r>
            <a:endParaRPr lang="en-US" altLang="ko-KR" u="sng" dirty="0">
              <a:solidFill>
                <a:srgbClr val="C00000"/>
              </a:solidFill>
            </a:endParaRPr>
          </a:p>
          <a:p>
            <a:endParaRPr lang="en-US" altLang="ko-KR" u="sng" dirty="0">
              <a:solidFill>
                <a:srgbClr val="C00000"/>
              </a:solidFill>
            </a:endParaRPr>
          </a:p>
          <a:p>
            <a:r>
              <a:rPr lang="en-US" altLang="ko-KR" u="sng" dirty="0">
                <a:solidFill>
                  <a:srgbClr val="C00000"/>
                </a:solidFill>
              </a:rPr>
              <a:t>*</a:t>
            </a:r>
            <a:r>
              <a:rPr lang="ko-KR" altLang="en-US" u="sng" dirty="0">
                <a:solidFill>
                  <a:srgbClr val="C00000"/>
                </a:solidFill>
              </a:rPr>
              <a:t>추가적으로 </a:t>
            </a:r>
            <a:r>
              <a:rPr lang="en-US" altLang="ko-KR" u="sng" dirty="0">
                <a:solidFill>
                  <a:srgbClr val="C00000"/>
                </a:solidFill>
              </a:rPr>
              <a:t>1365</a:t>
            </a:r>
            <a:r>
              <a:rPr lang="ko-KR" altLang="en-US" u="sng" dirty="0">
                <a:solidFill>
                  <a:srgbClr val="C00000"/>
                </a:solidFill>
              </a:rPr>
              <a:t>말고도 </a:t>
            </a:r>
            <a:r>
              <a:rPr lang="en-US" altLang="ko-KR" u="sng" dirty="0">
                <a:solidFill>
                  <a:srgbClr val="C00000"/>
                </a:solidFill>
              </a:rPr>
              <a:t>V</a:t>
            </a:r>
            <a:r>
              <a:rPr lang="ko-KR" altLang="en-US" u="sng" dirty="0">
                <a:solidFill>
                  <a:srgbClr val="C00000"/>
                </a:solidFill>
              </a:rPr>
              <a:t>사이트도 </a:t>
            </a:r>
            <a:r>
              <a:rPr lang="ko-KR" altLang="en-US" u="sng" dirty="0" err="1">
                <a:solidFill>
                  <a:srgbClr val="C00000"/>
                </a:solidFill>
              </a:rPr>
              <a:t>크롤링해오면됨</a:t>
            </a:r>
            <a:endParaRPr lang="ko-KR" altLang="en-US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97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[Component] </a:t>
            </a:r>
            <a:r>
              <a:rPr lang="en-US" altLang="ko-KR" dirty="0" err="1"/>
              <a:t>NavBar.tsx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455938" y="3036162"/>
            <a:ext cx="5761608" cy="73684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55938" y="3966156"/>
            <a:ext cx="879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슬라이더</a:t>
            </a:r>
            <a:r>
              <a:rPr lang="en-US" altLang="ko-KR" dirty="0"/>
              <a:t>   -</a:t>
            </a:r>
            <a:r>
              <a:rPr lang="ko-KR" altLang="en-US" dirty="0" err="1"/>
              <a:t>공고검색</a:t>
            </a:r>
            <a:r>
              <a:rPr lang="en-US" altLang="ko-KR" dirty="0"/>
              <a:t>   -</a:t>
            </a:r>
            <a:r>
              <a:rPr lang="ko-KR" altLang="en-US" dirty="0" err="1"/>
              <a:t>공고등록</a:t>
            </a:r>
            <a:r>
              <a:rPr lang="en-US" altLang="ko-KR" dirty="0"/>
              <a:t>	 -</a:t>
            </a:r>
            <a:r>
              <a:rPr lang="ko-KR" altLang="en-US" dirty="0" err="1"/>
              <a:t>피드</a:t>
            </a:r>
            <a:r>
              <a:rPr lang="en-US" altLang="ko-KR" dirty="0"/>
              <a:t>	-</a:t>
            </a:r>
            <a:r>
              <a:rPr lang="ko-KR" altLang="en-US" dirty="0" err="1"/>
              <a:t>마이페이지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600" y="3126879"/>
            <a:ext cx="559446" cy="49489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890" y="3175655"/>
            <a:ext cx="484136" cy="46261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348" y="3207537"/>
            <a:ext cx="548688" cy="38730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870" y="3188970"/>
            <a:ext cx="376550" cy="39806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5121" y="3127397"/>
            <a:ext cx="613240" cy="49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37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Slider.tsx</a:t>
            </a:r>
            <a:r>
              <a:rPr lang="en-US" altLang="ko-KR" dirty="0"/>
              <a:t> (AI </a:t>
            </a:r>
            <a:r>
              <a:rPr lang="ko-KR" altLang="en-US" dirty="0"/>
              <a:t>추천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06" y="1690688"/>
            <a:ext cx="2343215" cy="4479293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679533" y="4249266"/>
            <a:ext cx="2257909" cy="1371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ko-KR" altLang="en-US" b="1" dirty="0" err="1"/>
              <a:t>공고명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b="1" dirty="0"/>
              <a:t>공고 내용 요약</a:t>
            </a:r>
            <a:endParaRPr lang="en-US" altLang="ko-KR" b="1" dirty="0"/>
          </a:p>
          <a:p>
            <a:r>
              <a:rPr lang="en-US" altLang="ko-KR" sz="1400" b="1" dirty="0"/>
              <a:t>(</a:t>
            </a:r>
            <a:r>
              <a:rPr lang="ko-KR" altLang="en-US" sz="1400" b="1" dirty="0"/>
              <a:t>날짜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장소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업무내용 등</a:t>
            </a:r>
            <a:r>
              <a:rPr lang="en-US" altLang="ko-KR" sz="1400" b="1" dirty="0"/>
              <a:t>)</a:t>
            </a:r>
            <a:endParaRPr lang="ko-KR" altLang="en-US" sz="1400" b="1" dirty="0"/>
          </a:p>
        </p:txBody>
      </p:sp>
      <p:pic>
        <p:nvPicPr>
          <p:cNvPr id="1026" name="Picture 2" descr="한국청소년활동진흥원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416" y="2163763"/>
            <a:ext cx="2010598" cy="199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6987079" y="3186687"/>
            <a:ext cx="3621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후기 사진 없는 공고는 있어도</a:t>
            </a:r>
            <a:endParaRPr lang="en-US" altLang="ko-KR" dirty="0"/>
          </a:p>
          <a:p>
            <a:r>
              <a:rPr lang="ko-KR" altLang="en-US" dirty="0"/>
              <a:t>모든 공고는 지도를 가지고 있음 </a:t>
            </a:r>
          </a:p>
        </p:txBody>
      </p:sp>
      <p:pic>
        <p:nvPicPr>
          <p:cNvPr id="1028" name="Picture 4" descr="지도 옵션 · NAVER Map iOS SD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627" y="3027502"/>
            <a:ext cx="1805125" cy="18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4356488" y="2069356"/>
            <a:ext cx="60747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해당 공고와 관련된 후기 사진을 표시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후기글이</a:t>
            </a:r>
            <a:r>
              <a:rPr lang="ko-KR" altLang="en-US" dirty="0"/>
              <a:t> 없다면</a:t>
            </a:r>
            <a:r>
              <a:rPr lang="en-US" altLang="ko-KR" dirty="0"/>
              <a:t>(</a:t>
            </a:r>
            <a:r>
              <a:rPr lang="ko-KR" altLang="en-US" dirty="0"/>
              <a:t>또는 후기 사진이 없다면</a:t>
            </a:r>
            <a:r>
              <a:rPr lang="en-US" altLang="ko-KR" dirty="0"/>
              <a:t>) </a:t>
            </a:r>
            <a:r>
              <a:rPr lang="ko-KR" altLang="en-US" dirty="0"/>
              <a:t>지도 표시</a:t>
            </a:r>
            <a:endParaRPr lang="en-US" altLang="ko-KR" dirty="0"/>
          </a:p>
        </p:txBody>
      </p:sp>
      <p:sp>
        <p:nvSpPr>
          <p:cNvPr id="15" name="왼쪽 화살표 14"/>
          <p:cNvSpPr/>
          <p:nvPr/>
        </p:nvSpPr>
        <p:spPr>
          <a:xfrm>
            <a:off x="7830267" y="5599142"/>
            <a:ext cx="1455938" cy="86637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다음에</a:t>
            </a:r>
          </a:p>
        </p:txBody>
      </p:sp>
      <p:sp>
        <p:nvSpPr>
          <p:cNvPr id="16" name="오른쪽 화살표 15"/>
          <p:cNvSpPr/>
          <p:nvPr/>
        </p:nvSpPr>
        <p:spPr>
          <a:xfrm>
            <a:off x="10341916" y="5614367"/>
            <a:ext cx="1455938" cy="8511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즐겨찾기</a:t>
            </a:r>
          </a:p>
        </p:txBody>
      </p:sp>
      <p:sp>
        <p:nvSpPr>
          <p:cNvPr id="25" name="위쪽 화살표 24"/>
          <p:cNvSpPr/>
          <p:nvPr/>
        </p:nvSpPr>
        <p:spPr>
          <a:xfrm>
            <a:off x="9298040" y="4196468"/>
            <a:ext cx="895739" cy="140267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상세보기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0107842" y="520089"/>
            <a:ext cx="1342404" cy="124975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&lt;Bong&gt;</a:t>
            </a:r>
          </a:p>
          <a:p>
            <a:pPr algn="ctr"/>
            <a:endParaRPr lang="ko-KR" altLang="en-US" dirty="0"/>
          </a:p>
        </p:txBody>
      </p:sp>
      <p:grpSp>
        <p:nvGrpSpPr>
          <p:cNvPr id="38" name="그룹 37"/>
          <p:cNvGrpSpPr/>
          <p:nvPr/>
        </p:nvGrpSpPr>
        <p:grpSpPr>
          <a:xfrm>
            <a:off x="1639806" y="5625662"/>
            <a:ext cx="2343215" cy="544319"/>
            <a:chOff x="1455938" y="3036162"/>
            <a:chExt cx="5761608" cy="736846"/>
          </a:xfrm>
        </p:grpSpPr>
        <p:sp>
          <p:nvSpPr>
            <p:cNvPr id="39" name="직사각형 38"/>
            <p:cNvSpPr/>
            <p:nvPr/>
          </p:nvSpPr>
          <p:spPr>
            <a:xfrm>
              <a:off x="1455938" y="3036162"/>
              <a:ext cx="5761608" cy="73684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그림 3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01600" y="3126879"/>
              <a:ext cx="559446" cy="494894"/>
            </a:xfrm>
            <a:prstGeom prst="rect">
              <a:avLst/>
            </a:prstGeom>
          </p:spPr>
        </p:pic>
        <p:pic>
          <p:nvPicPr>
            <p:cNvPr id="41" name="그림 4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20890" y="3175655"/>
              <a:ext cx="484136" cy="462618"/>
            </a:xfrm>
            <a:prstGeom prst="rect">
              <a:avLst/>
            </a:prstGeom>
          </p:spPr>
        </p:pic>
        <p:pic>
          <p:nvPicPr>
            <p:cNvPr id="42" name="그림 4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74348" y="3207537"/>
              <a:ext cx="548688" cy="387309"/>
            </a:xfrm>
            <a:prstGeom prst="rect">
              <a:avLst/>
            </a:prstGeom>
          </p:spPr>
        </p:pic>
        <p:pic>
          <p:nvPicPr>
            <p:cNvPr id="43" name="그림 4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64870" y="3188970"/>
              <a:ext cx="376550" cy="398067"/>
            </a:xfrm>
            <a:prstGeom prst="rect">
              <a:avLst/>
            </a:prstGeom>
          </p:spPr>
        </p:pic>
        <p:pic>
          <p:nvPicPr>
            <p:cNvPr id="44" name="그림 4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75121" y="3127397"/>
              <a:ext cx="613240" cy="494894"/>
            </a:xfrm>
            <a:prstGeom prst="rect">
              <a:avLst/>
            </a:prstGeom>
          </p:spPr>
        </p:pic>
      </p:grpSp>
      <p:sp>
        <p:nvSpPr>
          <p:cNvPr id="26" name="직사각형 25"/>
          <p:cNvSpPr/>
          <p:nvPr/>
        </p:nvSpPr>
        <p:spPr>
          <a:xfrm>
            <a:off x="1585531" y="5582240"/>
            <a:ext cx="541537" cy="577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4285131" y="5105928"/>
            <a:ext cx="36217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+) </a:t>
            </a:r>
            <a:r>
              <a:rPr lang="ko-KR" altLang="en-US" dirty="0"/>
              <a:t>좋아요</a:t>
            </a:r>
            <a:r>
              <a:rPr lang="en-US" altLang="ko-KR" dirty="0"/>
              <a:t>, </a:t>
            </a:r>
            <a:r>
              <a:rPr lang="ko-KR" altLang="en-US" dirty="0" err="1"/>
              <a:t>싫어요는</a:t>
            </a:r>
            <a:r>
              <a:rPr lang="ko-KR" altLang="en-US" dirty="0"/>
              <a:t> </a:t>
            </a:r>
            <a:r>
              <a:rPr lang="ko-KR" altLang="en-US" dirty="0" err="1"/>
              <a:t>알고리즘용</a:t>
            </a:r>
            <a:endParaRPr lang="en-US" altLang="ko-KR" dirty="0"/>
          </a:p>
          <a:p>
            <a:r>
              <a:rPr lang="ko-KR" altLang="en-US" dirty="0"/>
              <a:t>신청은 </a:t>
            </a:r>
            <a:r>
              <a:rPr lang="ko-KR" altLang="en-US" dirty="0" err="1"/>
              <a:t>상세보기로</a:t>
            </a:r>
            <a:r>
              <a:rPr lang="ko-KR" altLang="en-US" dirty="0"/>
              <a:t> </a:t>
            </a:r>
            <a:r>
              <a:rPr lang="ko-KR" altLang="en-US" dirty="0" err="1"/>
              <a:t>신청해야함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+) </a:t>
            </a:r>
            <a:r>
              <a:rPr lang="ko-KR" altLang="en-US" dirty="0"/>
              <a:t>좋아요 목록은 </a:t>
            </a:r>
            <a:r>
              <a:rPr lang="ko-KR" altLang="en-US" dirty="0" err="1"/>
              <a:t>마이페이지에</a:t>
            </a:r>
            <a:r>
              <a:rPr lang="ko-KR" altLang="en-US" dirty="0"/>
              <a:t> 저장</a:t>
            </a:r>
          </a:p>
        </p:txBody>
      </p:sp>
    </p:spTree>
    <p:extLst>
      <p:ext uri="{BB962C8B-B14F-4D97-AF65-F5344CB8AC3E}">
        <p14:creationId xmlns:p14="http://schemas.microsoft.com/office/powerpoint/2010/main" val="983339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Bong.tsx</a:t>
            </a:r>
            <a:r>
              <a:rPr lang="en-US" altLang="ko-KR" dirty="0"/>
              <a:t> (</a:t>
            </a:r>
            <a:r>
              <a:rPr lang="ko-KR" altLang="en-US" dirty="0"/>
              <a:t>공고 상세보기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204163" y="4449228"/>
            <a:ext cx="424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해당 공고와 연관된 후기들이 나옴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0107842" y="520089"/>
            <a:ext cx="1342404" cy="124975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&lt;Bong&gt;</a:t>
            </a:r>
          </a:p>
          <a:p>
            <a:pPr algn="ctr"/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162974" y="1882065"/>
            <a:ext cx="2752078" cy="4145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1162974" y="5725153"/>
            <a:ext cx="2752078" cy="431689"/>
            <a:chOff x="1455938" y="3036162"/>
            <a:chExt cx="5761608" cy="736846"/>
          </a:xfrm>
        </p:grpSpPr>
        <p:sp>
          <p:nvSpPr>
            <p:cNvPr id="20" name="직사각형 19"/>
            <p:cNvSpPr/>
            <p:nvPr/>
          </p:nvSpPr>
          <p:spPr>
            <a:xfrm>
              <a:off x="1455938" y="3036162"/>
              <a:ext cx="5761608" cy="73684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1600" y="3126879"/>
              <a:ext cx="559446" cy="494894"/>
            </a:xfrm>
            <a:prstGeom prst="rect">
              <a:avLst/>
            </a:prstGeom>
          </p:spPr>
        </p:pic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0890" y="3175655"/>
              <a:ext cx="484136" cy="462618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4348" y="3207537"/>
              <a:ext cx="548688" cy="387309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64870" y="3188970"/>
              <a:ext cx="376550" cy="398067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75121" y="3127397"/>
              <a:ext cx="613240" cy="494894"/>
            </a:xfrm>
            <a:prstGeom prst="rect">
              <a:avLst/>
            </a:prstGeom>
          </p:spPr>
        </p:pic>
      </p:grp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7"/>
          <a:srcRect b="70197"/>
          <a:stretch/>
        </p:blipFill>
        <p:spPr>
          <a:xfrm>
            <a:off x="1171363" y="4321749"/>
            <a:ext cx="2734835" cy="1380462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10107842" y="1758341"/>
            <a:ext cx="1342404" cy="124975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&lt;Review&gt;</a:t>
            </a:r>
          </a:p>
          <a:p>
            <a:pPr algn="ctr"/>
            <a:endParaRPr lang="ko-KR" altLang="en-US" dirty="0"/>
          </a:p>
        </p:txBody>
      </p:sp>
      <p:pic>
        <p:nvPicPr>
          <p:cNvPr id="1028" name="Picture 4" descr="지도 옵션 · NAVER Map iOS SDK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056" y="2016240"/>
            <a:ext cx="895636" cy="895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387530" y="2084763"/>
            <a:ext cx="2345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봉사기관명</a:t>
            </a:r>
            <a:endParaRPr lang="en-US" altLang="ko-KR" dirty="0"/>
          </a:p>
          <a:p>
            <a:r>
              <a:rPr lang="ko-KR" altLang="en-US" dirty="0" err="1"/>
              <a:t>봉사기간</a:t>
            </a:r>
            <a:r>
              <a:rPr lang="ko-KR" altLang="en-US" dirty="0"/>
              <a:t> 등</a:t>
            </a:r>
            <a:endParaRPr lang="en-US" altLang="ko-KR" dirty="0"/>
          </a:p>
        </p:txBody>
      </p:sp>
      <p:sp>
        <p:nvSpPr>
          <p:cNvPr id="31" name="TextBox 30"/>
          <p:cNvSpPr txBox="1"/>
          <p:nvPr/>
        </p:nvSpPr>
        <p:spPr>
          <a:xfrm>
            <a:off x="1328082" y="3108495"/>
            <a:ext cx="2345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자세한 정보들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이런저런 정보</a:t>
            </a:r>
            <a:endParaRPr lang="en-US" altLang="ko-KR" dirty="0"/>
          </a:p>
        </p:txBody>
      </p:sp>
      <p:sp>
        <p:nvSpPr>
          <p:cNvPr id="32" name="TextBox 31"/>
          <p:cNvSpPr txBox="1"/>
          <p:nvPr/>
        </p:nvSpPr>
        <p:spPr>
          <a:xfrm>
            <a:off x="4480699" y="2198551"/>
            <a:ext cx="49473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지도 시스템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해당 봉사 사이트로 이동해주는 버튼</a:t>
            </a:r>
            <a:r>
              <a:rPr lang="en-US" altLang="ko-KR" dirty="0"/>
              <a:t>(</a:t>
            </a:r>
            <a:r>
              <a:rPr lang="ko-KR" altLang="en-US" dirty="0"/>
              <a:t>신청</a:t>
            </a:r>
            <a:r>
              <a:rPr lang="en-US" altLang="ko-KR" dirty="0"/>
              <a:t>)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비회원으로 신청 버튼 누르면</a:t>
            </a:r>
            <a:r>
              <a:rPr lang="en-US" altLang="ko-KR" dirty="0"/>
              <a:t>, 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따로 </a:t>
            </a:r>
            <a:r>
              <a:rPr lang="ko-KR" altLang="en-US" dirty="0" err="1"/>
              <a:t>후기글</a:t>
            </a:r>
            <a:r>
              <a:rPr lang="ko-KR" altLang="en-US" dirty="0"/>
              <a:t> 요청 없음</a:t>
            </a:r>
            <a:r>
              <a:rPr lang="en-US" altLang="ko-KR" dirty="0"/>
              <a:t>(</a:t>
            </a:r>
            <a:r>
              <a:rPr lang="ko-KR" altLang="en-US" dirty="0"/>
              <a:t>작성 불가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4" name="모서리가 둥근 직사각형 33"/>
          <p:cNvSpPr/>
          <p:nvPr/>
        </p:nvSpPr>
        <p:spPr>
          <a:xfrm>
            <a:off x="1927408" y="3844350"/>
            <a:ext cx="1223210" cy="3906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신청 버튼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D60D76-A39B-4227-8799-E0B937CCCB3B}"/>
              </a:ext>
            </a:extLst>
          </p:cNvPr>
          <p:cNvSpPr txBox="1"/>
          <p:nvPr/>
        </p:nvSpPr>
        <p:spPr>
          <a:xfrm>
            <a:off x="4480699" y="5233512"/>
            <a:ext cx="6937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*</a:t>
            </a:r>
            <a:r>
              <a:rPr lang="ko-KR" altLang="en-US" dirty="0">
                <a:solidFill>
                  <a:srgbClr val="C00000"/>
                </a:solidFill>
              </a:rPr>
              <a:t>피드백</a:t>
            </a:r>
            <a:r>
              <a:rPr lang="en-US" altLang="ko-KR" dirty="0">
                <a:solidFill>
                  <a:srgbClr val="C00000"/>
                </a:solidFill>
              </a:rPr>
              <a:t>: </a:t>
            </a:r>
            <a:r>
              <a:rPr lang="ko-KR" altLang="en-US" dirty="0">
                <a:solidFill>
                  <a:srgbClr val="C00000"/>
                </a:solidFill>
              </a:rPr>
              <a:t>가능하면 신청을 여기서</a:t>
            </a:r>
            <a:r>
              <a:rPr lang="en-US" altLang="ko-KR" dirty="0">
                <a:solidFill>
                  <a:srgbClr val="C00000"/>
                </a:solidFill>
              </a:rPr>
              <a:t>, </a:t>
            </a:r>
            <a:r>
              <a:rPr lang="ko-KR" altLang="en-US" dirty="0">
                <a:solidFill>
                  <a:srgbClr val="C00000"/>
                </a:solidFill>
              </a:rPr>
              <a:t>이중이라 </a:t>
            </a:r>
            <a:r>
              <a:rPr lang="ko-KR" altLang="en-US" dirty="0" err="1">
                <a:solidFill>
                  <a:srgbClr val="C00000"/>
                </a:solidFill>
              </a:rPr>
              <a:t>불편할수도</a:t>
            </a:r>
            <a:endParaRPr lang="en-US" altLang="ko-KR" dirty="0">
              <a:solidFill>
                <a:srgbClr val="C00000"/>
              </a:solidFill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altLang="ko-KR" dirty="0">
                <a:solidFill>
                  <a:srgbClr val="C00000"/>
                </a:solidFill>
              </a:rPr>
              <a:t>“</a:t>
            </a:r>
            <a:r>
              <a:rPr lang="ko-KR" altLang="en-US" dirty="0">
                <a:solidFill>
                  <a:srgbClr val="C00000"/>
                </a:solidFill>
              </a:rPr>
              <a:t>전화번호</a:t>
            </a:r>
            <a:r>
              <a:rPr lang="en-US" altLang="ko-KR" dirty="0">
                <a:solidFill>
                  <a:srgbClr val="C00000"/>
                </a:solidFill>
              </a:rPr>
              <a:t>”</a:t>
            </a:r>
            <a:r>
              <a:rPr lang="ko-KR" altLang="en-US" dirty="0">
                <a:solidFill>
                  <a:srgbClr val="C00000"/>
                </a:solidFill>
              </a:rPr>
              <a:t>를 </a:t>
            </a:r>
            <a:r>
              <a:rPr lang="ko-KR" altLang="en-US" dirty="0" err="1">
                <a:solidFill>
                  <a:srgbClr val="C00000"/>
                </a:solidFill>
              </a:rPr>
              <a:t>크롤링으로</a:t>
            </a:r>
            <a:r>
              <a:rPr lang="ko-KR" altLang="en-US" dirty="0">
                <a:solidFill>
                  <a:srgbClr val="C00000"/>
                </a:solidFill>
              </a:rPr>
              <a:t> 따올까</a:t>
            </a:r>
            <a:r>
              <a:rPr lang="en-US" altLang="ko-KR" dirty="0">
                <a:solidFill>
                  <a:srgbClr val="C00000"/>
                </a:solidFill>
              </a:rPr>
              <a:t>, 1365 </a:t>
            </a:r>
            <a:r>
              <a:rPr lang="ko-KR" altLang="en-US" dirty="0">
                <a:solidFill>
                  <a:srgbClr val="C00000"/>
                </a:solidFill>
              </a:rPr>
              <a:t>외 타겟 확장성 언급</a:t>
            </a:r>
            <a:endParaRPr lang="en-US" altLang="ko-KR" dirty="0">
              <a:solidFill>
                <a:srgbClr val="C00000"/>
              </a:solidFill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u="sng" dirty="0">
                <a:solidFill>
                  <a:srgbClr val="C00000"/>
                </a:solidFill>
              </a:rPr>
              <a:t>자동으로 등록할 수 있게</a:t>
            </a:r>
            <a:r>
              <a:rPr lang="en-US" altLang="ko-KR" u="sng" dirty="0">
                <a:solidFill>
                  <a:srgbClr val="C00000"/>
                </a:solidFill>
              </a:rPr>
              <a:t>, HTML </a:t>
            </a:r>
            <a:r>
              <a:rPr lang="ko-KR" altLang="en-US" u="sng" dirty="0" err="1">
                <a:solidFill>
                  <a:srgbClr val="C00000"/>
                </a:solidFill>
              </a:rPr>
              <a:t>크롤링처럼</a:t>
            </a:r>
            <a:r>
              <a:rPr lang="ko-KR" altLang="en-US" u="sng" dirty="0">
                <a:solidFill>
                  <a:srgbClr val="C00000"/>
                </a:solidFill>
              </a:rPr>
              <a:t> 원격 가능하다 함</a:t>
            </a:r>
          </a:p>
        </p:txBody>
      </p:sp>
    </p:spTree>
    <p:extLst>
      <p:ext uri="{BB962C8B-B14F-4D97-AF65-F5344CB8AC3E}">
        <p14:creationId xmlns:p14="http://schemas.microsoft.com/office/powerpoint/2010/main" val="3010161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1162974" y="1902016"/>
            <a:ext cx="2752078" cy="4145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Write.tsx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77644" y="2112885"/>
            <a:ext cx="67573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참여하기 버튼을 눌렀던 공고에 대해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해당 공고의 참여 날짜 직후에 후기 </a:t>
            </a:r>
            <a:r>
              <a:rPr lang="ko-KR" altLang="en-US" dirty="0" err="1"/>
              <a:t>작성글</a:t>
            </a:r>
            <a:r>
              <a:rPr lang="ko-KR" altLang="en-US" dirty="0"/>
              <a:t> 요청 팝업</a:t>
            </a:r>
            <a:r>
              <a:rPr lang="en-US" altLang="ko-KR" dirty="0"/>
              <a:t>(</a:t>
            </a:r>
            <a:r>
              <a:rPr lang="ko-KR" altLang="en-US" dirty="0"/>
              <a:t>알림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참여했다고 답하면 </a:t>
            </a:r>
            <a:r>
              <a:rPr lang="en-US" altLang="ko-KR" dirty="0" err="1"/>
              <a:t>Write.tsx</a:t>
            </a:r>
            <a:r>
              <a:rPr lang="ko-KR" altLang="en-US" dirty="0"/>
              <a:t>로 이동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사용자가 </a:t>
            </a:r>
            <a:r>
              <a:rPr lang="en-US" altLang="ko-KR" dirty="0"/>
              <a:t>private</a:t>
            </a:r>
            <a:r>
              <a:rPr lang="ko-KR" altLang="en-US" dirty="0"/>
              <a:t>으로 설정하면 </a:t>
            </a:r>
            <a:r>
              <a:rPr lang="ko-KR" altLang="en-US" dirty="0" err="1"/>
              <a:t>피드에</a:t>
            </a:r>
            <a:r>
              <a:rPr lang="ko-KR" altLang="en-US" dirty="0"/>
              <a:t> 안올리고 </a:t>
            </a:r>
            <a:r>
              <a:rPr lang="ko-KR" altLang="en-US" dirty="0" err="1"/>
              <a:t>마이페이지에서만</a:t>
            </a:r>
            <a:r>
              <a:rPr lang="ko-KR" altLang="en-US" dirty="0"/>
              <a:t> 확인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후기 객체의 </a:t>
            </a:r>
            <a:r>
              <a:rPr lang="en-US" altLang="ko-KR" dirty="0"/>
              <a:t>private</a:t>
            </a:r>
            <a:r>
              <a:rPr lang="ko-KR" altLang="en-US" dirty="0"/>
              <a:t>여부는 </a:t>
            </a:r>
            <a:r>
              <a:rPr lang="ko-KR" altLang="en-US" dirty="0" err="1"/>
              <a:t>마이페이지에서</a:t>
            </a:r>
            <a:r>
              <a:rPr lang="ko-KR" altLang="en-US" dirty="0"/>
              <a:t> 수동으로 변경가능</a:t>
            </a:r>
            <a:r>
              <a:rPr lang="en-US" altLang="ko-KR" dirty="0"/>
              <a:t>)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1162974" y="5725153"/>
            <a:ext cx="2752078" cy="431689"/>
            <a:chOff x="1455938" y="3036162"/>
            <a:chExt cx="5761608" cy="736846"/>
          </a:xfrm>
        </p:grpSpPr>
        <p:sp>
          <p:nvSpPr>
            <p:cNvPr id="21" name="직사각형 20"/>
            <p:cNvSpPr/>
            <p:nvPr/>
          </p:nvSpPr>
          <p:spPr>
            <a:xfrm>
              <a:off x="1455938" y="3036162"/>
              <a:ext cx="5761608" cy="73684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1600" y="3126879"/>
              <a:ext cx="559446" cy="494894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0890" y="3175655"/>
              <a:ext cx="484136" cy="462618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4348" y="3207537"/>
              <a:ext cx="548688" cy="387309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64870" y="3188970"/>
              <a:ext cx="376550" cy="398067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75121" y="3127397"/>
              <a:ext cx="613240" cy="494894"/>
            </a:xfrm>
            <a:prstGeom prst="rect">
              <a:avLst/>
            </a:prstGeom>
          </p:spPr>
        </p:pic>
      </p:grpSp>
      <p:sp>
        <p:nvSpPr>
          <p:cNvPr id="17" name="직사각형 16"/>
          <p:cNvSpPr/>
          <p:nvPr/>
        </p:nvSpPr>
        <p:spPr>
          <a:xfrm>
            <a:off x="10192692" y="728532"/>
            <a:ext cx="1342404" cy="124975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&lt;Review&gt;</a:t>
            </a:r>
          </a:p>
          <a:p>
            <a:pPr algn="ctr"/>
            <a:endParaRPr lang="ko-KR" altLang="en-US" dirty="0"/>
          </a:p>
        </p:txBody>
      </p:sp>
      <p:pic>
        <p:nvPicPr>
          <p:cNvPr id="18" name="Picture 2" descr="No Image Icon, Transparent No Image.PNG Images &amp; Vector ...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524" y="2232290"/>
            <a:ext cx="1312785" cy="1312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328082" y="3774489"/>
            <a:ext cx="2396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후기 객체에 넣을 내용 수동으로 작성</a:t>
            </a:r>
          </a:p>
        </p:txBody>
      </p:sp>
      <p:sp>
        <p:nvSpPr>
          <p:cNvPr id="20" name="모서리가 둥근 직사각형 19"/>
          <p:cNvSpPr/>
          <p:nvPr/>
        </p:nvSpPr>
        <p:spPr>
          <a:xfrm>
            <a:off x="1910486" y="5143159"/>
            <a:ext cx="1223210" cy="3906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게시 버튼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768796-F182-4E19-A869-748D39E69315}"/>
              </a:ext>
            </a:extLst>
          </p:cNvPr>
          <p:cNvSpPr txBox="1"/>
          <p:nvPr/>
        </p:nvSpPr>
        <p:spPr>
          <a:xfrm>
            <a:off x="4321629" y="4847560"/>
            <a:ext cx="749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*</a:t>
            </a:r>
            <a:r>
              <a:rPr lang="ko-KR" altLang="en-US" dirty="0">
                <a:solidFill>
                  <a:srgbClr val="C00000"/>
                </a:solidFill>
              </a:rPr>
              <a:t>피드백</a:t>
            </a:r>
            <a:r>
              <a:rPr lang="en-US" altLang="ko-KR" dirty="0">
                <a:solidFill>
                  <a:srgbClr val="C00000"/>
                </a:solidFill>
              </a:rPr>
              <a:t>: </a:t>
            </a:r>
            <a:r>
              <a:rPr lang="ko-KR" altLang="en-US" dirty="0">
                <a:solidFill>
                  <a:srgbClr val="C00000"/>
                </a:solidFill>
              </a:rPr>
              <a:t>신청에 대한 상태 추적을 통해 봉사 후기에 대한 정확도 향상</a:t>
            </a:r>
            <a:endParaRPr lang="en-US" altLang="ko-KR" dirty="0">
              <a:solidFill>
                <a:srgbClr val="C00000"/>
              </a:solidFill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u="sng" dirty="0">
                <a:solidFill>
                  <a:srgbClr val="C00000"/>
                </a:solidFill>
              </a:rPr>
              <a:t>봉사 실제로 했는지에 대한 검증 </a:t>
            </a:r>
            <a:r>
              <a:rPr lang="en-US" altLang="ko-KR" u="sng" dirty="0">
                <a:solidFill>
                  <a:srgbClr val="C00000"/>
                </a:solidFill>
              </a:rPr>
              <a:t>(</a:t>
            </a:r>
            <a:r>
              <a:rPr lang="ko-KR" altLang="en-US" u="sng" dirty="0">
                <a:solidFill>
                  <a:srgbClr val="C00000"/>
                </a:solidFill>
              </a:rPr>
              <a:t>신뢰도 확보 필요</a:t>
            </a:r>
            <a:r>
              <a:rPr lang="en-US" altLang="ko-KR" u="sng" dirty="0">
                <a:solidFill>
                  <a:srgbClr val="C00000"/>
                </a:solidFill>
              </a:rPr>
              <a:t>)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endParaRPr lang="en-US" altLang="ko-KR" u="sng" dirty="0">
              <a:solidFill>
                <a:srgbClr val="C00000"/>
              </a:solidFill>
            </a:endParaRPr>
          </a:p>
          <a:p>
            <a:r>
              <a:rPr lang="en-US" altLang="ko-KR" u="sng" dirty="0">
                <a:solidFill>
                  <a:srgbClr val="C00000"/>
                </a:solidFill>
              </a:rPr>
              <a:t>+) </a:t>
            </a:r>
            <a:r>
              <a:rPr lang="ko-KR" altLang="en-US" u="sng" dirty="0">
                <a:solidFill>
                  <a:srgbClr val="C00000"/>
                </a:solidFill>
              </a:rPr>
              <a:t>봉사 인스타그램</a:t>
            </a:r>
            <a:r>
              <a:rPr lang="en-US" altLang="ko-KR" u="sng" dirty="0">
                <a:solidFill>
                  <a:srgbClr val="C00000"/>
                </a:solidFill>
              </a:rPr>
              <a:t>: </a:t>
            </a:r>
            <a:r>
              <a:rPr lang="ko-KR" altLang="en-US" u="sng" dirty="0">
                <a:solidFill>
                  <a:srgbClr val="C00000"/>
                </a:solidFill>
              </a:rPr>
              <a:t>봉사를 장려</a:t>
            </a:r>
          </a:p>
        </p:txBody>
      </p:sp>
    </p:spTree>
    <p:extLst>
      <p:ext uri="{BB962C8B-B14F-4D97-AF65-F5344CB8AC3E}">
        <p14:creationId xmlns:p14="http://schemas.microsoft.com/office/powerpoint/2010/main" val="2409916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1162974" y="1902016"/>
            <a:ext cx="2752078" cy="4145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Review.tsx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1162974" y="5725153"/>
            <a:ext cx="2752078" cy="431689"/>
            <a:chOff x="1455938" y="3036162"/>
            <a:chExt cx="5761608" cy="736846"/>
          </a:xfrm>
        </p:grpSpPr>
        <p:sp>
          <p:nvSpPr>
            <p:cNvPr id="21" name="직사각형 20"/>
            <p:cNvSpPr/>
            <p:nvPr/>
          </p:nvSpPr>
          <p:spPr>
            <a:xfrm>
              <a:off x="1455938" y="3036162"/>
              <a:ext cx="5761608" cy="73684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1600" y="3126879"/>
              <a:ext cx="559446" cy="494894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0890" y="3175655"/>
              <a:ext cx="484136" cy="462618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4348" y="3207537"/>
              <a:ext cx="548688" cy="387309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64870" y="3188970"/>
              <a:ext cx="376550" cy="398067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75121" y="3127397"/>
              <a:ext cx="613240" cy="494894"/>
            </a:xfrm>
            <a:prstGeom prst="rect">
              <a:avLst/>
            </a:prstGeom>
          </p:spPr>
        </p:pic>
      </p:grpSp>
      <p:sp>
        <p:nvSpPr>
          <p:cNvPr id="13" name="직사각형 12"/>
          <p:cNvSpPr/>
          <p:nvPr/>
        </p:nvSpPr>
        <p:spPr>
          <a:xfrm>
            <a:off x="10192692" y="772850"/>
            <a:ext cx="1342404" cy="124975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&lt;Review&gt;</a:t>
            </a:r>
          </a:p>
          <a:p>
            <a:pPr algn="ctr"/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277644" y="2112885"/>
            <a:ext cx="670403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봉사공고에</a:t>
            </a:r>
            <a:r>
              <a:rPr lang="ko-KR" altLang="en-US" dirty="0"/>
              <a:t> 대한 정보를 포함한 </a:t>
            </a:r>
            <a:r>
              <a:rPr lang="ko-KR" altLang="en-US" dirty="0" err="1"/>
              <a:t>후기글</a:t>
            </a:r>
            <a:endParaRPr lang="en-US" altLang="ko-K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해당 </a:t>
            </a:r>
            <a:r>
              <a:rPr lang="ko-KR" altLang="en-US" dirty="0" err="1"/>
              <a:t>후기글에</a:t>
            </a:r>
            <a:r>
              <a:rPr lang="ko-KR" altLang="en-US" dirty="0"/>
              <a:t> 연결된 </a:t>
            </a:r>
            <a:r>
              <a:rPr lang="ko-KR" altLang="en-US" dirty="0" err="1"/>
              <a:t>봉사사공고</a:t>
            </a:r>
            <a:r>
              <a:rPr lang="ko-KR" altLang="en-US" dirty="0"/>
              <a:t> </a:t>
            </a:r>
            <a:r>
              <a:rPr lang="ko-KR" altLang="en-US" dirty="0" err="1"/>
              <a:t>클릭시</a:t>
            </a:r>
            <a:endParaRPr lang="en-US" altLang="ko-K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연결된 </a:t>
            </a:r>
            <a:r>
              <a:rPr lang="en-US" altLang="ko-KR" dirty="0" err="1"/>
              <a:t>Bong.tsx</a:t>
            </a:r>
            <a:r>
              <a:rPr lang="ko-KR" altLang="en-US" dirty="0"/>
              <a:t>로 이동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사진과 함께 작성된 글 표시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좋아요</a:t>
            </a:r>
            <a:r>
              <a:rPr lang="en-US" altLang="ko-KR" dirty="0"/>
              <a:t>, </a:t>
            </a:r>
            <a:r>
              <a:rPr lang="ko-KR" altLang="en-US" dirty="0"/>
              <a:t>댓글 기능 有</a:t>
            </a:r>
            <a:endParaRPr lang="en-US" altLang="ko-KR" dirty="0"/>
          </a:p>
          <a:p>
            <a:r>
              <a:rPr lang="en-US" altLang="ko-KR" dirty="0"/>
              <a:t>=&gt; </a:t>
            </a:r>
            <a:r>
              <a:rPr lang="ko-KR" altLang="en-US" dirty="0"/>
              <a:t>해당 유저 프로필 누르면 해당 유저의 </a:t>
            </a:r>
            <a:r>
              <a:rPr lang="en-US" altLang="ko-KR" dirty="0" err="1"/>
              <a:t>MyPage.tsx</a:t>
            </a:r>
            <a:r>
              <a:rPr lang="ko-KR" altLang="en-US" dirty="0"/>
              <a:t>로 이동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 err="1"/>
              <a:t>팔로우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 err="1"/>
              <a:t>일방형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6597" y="1922367"/>
            <a:ext cx="2728455" cy="3767332"/>
          </a:xfrm>
          <a:prstGeom prst="rect">
            <a:avLst/>
          </a:prstGeom>
        </p:spPr>
      </p:pic>
      <p:pic>
        <p:nvPicPr>
          <p:cNvPr id="17" name="Picture 2" descr="한국청소년활동진흥원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596" y="2297551"/>
            <a:ext cx="2635547" cy="230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/>
          <p:cNvSpPr/>
          <p:nvPr/>
        </p:nvSpPr>
        <p:spPr>
          <a:xfrm>
            <a:off x="10192692" y="2022602"/>
            <a:ext cx="1342404" cy="124975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&lt;Bong&gt;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024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Search.tsx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26219" y="2453780"/>
            <a:ext cx="64199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검색 키워드에 맞는 공고들 세로로 나열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클릭시</a:t>
            </a:r>
            <a:r>
              <a:rPr lang="ko-KR" altLang="en-US" dirty="0"/>
              <a:t> </a:t>
            </a:r>
            <a:r>
              <a:rPr lang="en-US" altLang="ko-KR" dirty="0" err="1"/>
              <a:t>Bong.tsx</a:t>
            </a:r>
            <a:r>
              <a:rPr lang="ko-KR" altLang="en-US" dirty="0"/>
              <a:t>로 이동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162974" y="1882065"/>
            <a:ext cx="2752078" cy="4145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79340" y="2592280"/>
            <a:ext cx="140498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ㅁㄴㄹ마ㅣㄴ어롤ㅇㄴ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3" name="Picture 2" descr="한국청소년활동진흥원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81" y="2503503"/>
            <a:ext cx="769305" cy="85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직사각형 14"/>
          <p:cNvSpPr/>
          <p:nvPr/>
        </p:nvSpPr>
        <p:spPr>
          <a:xfrm>
            <a:off x="2279340" y="3567346"/>
            <a:ext cx="140498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ㅁㄴㄹ마ㅣㄴ어롤ㅇㄴ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279340" y="4576439"/>
            <a:ext cx="140498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ㅁㄴㄹ마ㅣㄴ어롤ㅇㄴ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9" name="Picture 2" descr="한국청소년활동진흥원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81" y="4487662"/>
            <a:ext cx="769305" cy="85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지도 옵션 · NAVER Map iOS SD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229" y="3545658"/>
            <a:ext cx="785157" cy="78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/>
          <p:cNvGrpSpPr/>
          <p:nvPr/>
        </p:nvGrpSpPr>
        <p:grpSpPr>
          <a:xfrm>
            <a:off x="1162974" y="5725153"/>
            <a:ext cx="2752078" cy="431689"/>
            <a:chOff x="1455938" y="3036162"/>
            <a:chExt cx="5761608" cy="736846"/>
          </a:xfrm>
        </p:grpSpPr>
        <p:sp>
          <p:nvSpPr>
            <p:cNvPr id="21" name="직사각형 20"/>
            <p:cNvSpPr/>
            <p:nvPr/>
          </p:nvSpPr>
          <p:spPr>
            <a:xfrm>
              <a:off x="1455938" y="3036162"/>
              <a:ext cx="5761608" cy="73684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1600" y="3126879"/>
              <a:ext cx="559446" cy="494894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20890" y="3175655"/>
              <a:ext cx="484136" cy="462618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74348" y="3207537"/>
              <a:ext cx="548688" cy="387309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64870" y="3188970"/>
              <a:ext cx="376550" cy="398067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75121" y="3127397"/>
              <a:ext cx="613240" cy="494894"/>
            </a:xfrm>
            <a:prstGeom prst="rect">
              <a:avLst/>
            </a:prstGeom>
          </p:spPr>
        </p:pic>
      </p:grpSp>
      <p:pic>
        <p:nvPicPr>
          <p:cNvPr id="6" name="그림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1759" y="1867976"/>
            <a:ext cx="2852253" cy="497627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10274964" y="1027906"/>
            <a:ext cx="1342404" cy="124975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&lt;Bong&gt;</a:t>
            </a:r>
          </a:p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1737803" y="5632271"/>
            <a:ext cx="541537" cy="577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902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AddCard.tsx</a:t>
            </a:r>
            <a:r>
              <a:rPr lang="en-US" altLang="ko-KR" dirty="0"/>
              <a:t>(</a:t>
            </a:r>
            <a:r>
              <a:rPr lang="ko-KR" altLang="en-US" dirty="0"/>
              <a:t>비회원</a:t>
            </a:r>
            <a:r>
              <a:rPr lang="en-US" altLang="ko-KR" dirty="0"/>
              <a:t>-</a:t>
            </a:r>
            <a:r>
              <a:rPr lang="en-US" altLang="ko-KR" dirty="0" err="1"/>
              <a:t>Login.tsx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52602" y="2047624"/>
            <a:ext cx="64199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공고 게시는 누구나 가능함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기관 담당자가 올릴 수도 있고</a:t>
            </a:r>
            <a:r>
              <a:rPr lang="en-US" altLang="ko-KR" dirty="0"/>
              <a:t>, </a:t>
            </a:r>
            <a:r>
              <a:rPr lang="ko-KR" altLang="en-US" dirty="0"/>
              <a:t>사용자가 올릴 수도 있음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여기서 말하는 공고 게시는</a:t>
            </a:r>
            <a:r>
              <a:rPr lang="en-US" altLang="ko-KR" dirty="0"/>
              <a:t>, </a:t>
            </a:r>
            <a:r>
              <a:rPr lang="ko-KR" altLang="en-US" dirty="0"/>
              <a:t>다른 웹사이트에서 공고를 찾아와서 </a:t>
            </a:r>
            <a:r>
              <a:rPr lang="en-US" altLang="ko-KR" b="1" u="sng" dirty="0">
                <a:solidFill>
                  <a:srgbClr val="0070C0"/>
                </a:solidFill>
              </a:rPr>
              <a:t>“</a:t>
            </a:r>
            <a:r>
              <a:rPr lang="ko-KR" altLang="en-US" b="1" u="sng" dirty="0">
                <a:solidFill>
                  <a:srgbClr val="0070C0"/>
                </a:solidFill>
              </a:rPr>
              <a:t>공유</a:t>
            </a:r>
            <a:r>
              <a:rPr lang="en-US" altLang="ko-KR" b="1" u="sng" dirty="0">
                <a:solidFill>
                  <a:srgbClr val="0070C0"/>
                </a:solidFill>
              </a:rPr>
              <a:t>“ </a:t>
            </a:r>
            <a:r>
              <a:rPr lang="ko-KR" altLang="en-US" b="1" u="sng" dirty="0">
                <a:solidFill>
                  <a:srgbClr val="0070C0"/>
                </a:solidFill>
              </a:rPr>
              <a:t>해준다는 </a:t>
            </a:r>
            <a:r>
              <a:rPr lang="ko-KR" altLang="en-US" dirty="0"/>
              <a:t>개념이 강함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서로 모를 수 있는 공고를 알려준다는 개념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기본은 </a:t>
            </a:r>
            <a:r>
              <a:rPr lang="ko-KR" altLang="en-US" dirty="0" err="1"/>
              <a:t>크롤링</a:t>
            </a:r>
            <a:r>
              <a:rPr lang="ko-KR" altLang="en-US" dirty="0"/>
              <a:t> </a:t>
            </a:r>
            <a:r>
              <a:rPr lang="ko-KR" altLang="en-US" dirty="0" err="1"/>
              <a:t>해올꺼지만</a:t>
            </a:r>
            <a:r>
              <a:rPr lang="en-US" altLang="ko-KR" dirty="0"/>
              <a:t>, </a:t>
            </a:r>
            <a:r>
              <a:rPr lang="ko-KR" altLang="en-US" dirty="0"/>
              <a:t>그 외에도 추가 공유하고 </a:t>
            </a:r>
            <a:r>
              <a:rPr lang="ko-KR" altLang="en-US" dirty="0" err="1"/>
              <a:t>싶을때</a:t>
            </a:r>
            <a:r>
              <a:rPr lang="ko-KR" altLang="en-US" dirty="0"/>
              <a:t> 사용</a:t>
            </a:r>
            <a:r>
              <a:rPr lang="en-US" altLang="ko-KR" dirty="0"/>
              <a:t>)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162974" y="1882065"/>
            <a:ext cx="2752078" cy="4145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162974" y="5725153"/>
            <a:ext cx="2752078" cy="431689"/>
            <a:chOff x="1455938" y="3036162"/>
            <a:chExt cx="5761608" cy="736846"/>
          </a:xfrm>
        </p:grpSpPr>
        <p:sp>
          <p:nvSpPr>
            <p:cNvPr id="21" name="직사각형 20"/>
            <p:cNvSpPr/>
            <p:nvPr/>
          </p:nvSpPr>
          <p:spPr>
            <a:xfrm>
              <a:off x="1455938" y="3036162"/>
              <a:ext cx="5761608" cy="73684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1600" y="3126879"/>
              <a:ext cx="559446" cy="494894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0890" y="3175655"/>
              <a:ext cx="484136" cy="462618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4348" y="3207537"/>
              <a:ext cx="548688" cy="387309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64870" y="3188970"/>
              <a:ext cx="376550" cy="398067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75121" y="3127397"/>
              <a:ext cx="613240" cy="494894"/>
            </a:xfrm>
            <a:prstGeom prst="rect">
              <a:avLst/>
            </a:prstGeom>
          </p:spPr>
        </p:pic>
      </p:grpSp>
      <p:pic>
        <p:nvPicPr>
          <p:cNvPr id="2050" name="Picture 2" descr="No Image Icon, Transparent No Image.PNG Images &amp; Vector ...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524" y="2232290"/>
            <a:ext cx="1312785" cy="1312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1287875" y="3736452"/>
            <a:ext cx="2534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공고 객체에 넣을 내용 수동으로 작성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u="sng" dirty="0">
                <a:solidFill>
                  <a:srgbClr val="FF0000"/>
                </a:solidFill>
              </a:rPr>
              <a:t>공고 사이트 링크必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1910486" y="5143159"/>
            <a:ext cx="1223210" cy="3906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게시 버튼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0210008" y="1268033"/>
            <a:ext cx="1342404" cy="124975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&lt;Bong&gt;</a:t>
            </a:r>
          </a:p>
          <a:p>
            <a:pPr algn="ctr"/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2276079" y="5634746"/>
            <a:ext cx="541537" cy="577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710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1162974" y="1882065"/>
            <a:ext cx="2752078" cy="4145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Feed.tsx</a:t>
            </a:r>
            <a:r>
              <a:rPr lang="en-US" altLang="ko-KR" dirty="0"/>
              <a:t>(AI </a:t>
            </a:r>
            <a:r>
              <a:rPr lang="ko-KR" altLang="en-US" dirty="0"/>
              <a:t>추천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77644" y="2112885"/>
            <a:ext cx="6419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다른 사용자들 </a:t>
            </a:r>
            <a:r>
              <a:rPr lang="ko-KR" altLang="en-US" dirty="0" err="1"/>
              <a:t>후기글</a:t>
            </a:r>
            <a:r>
              <a:rPr lang="ko-KR" altLang="en-US" dirty="0"/>
              <a:t> 모음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b="14807"/>
          <a:stretch/>
        </p:blipFill>
        <p:spPr>
          <a:xfrm>
            <a:off x="1180217" y="1868765"/>
            <a:ext cx="2734835" cy="3946109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1162974" y="5725153"/>
            <a:ext cx="2752078" cy="431689"/>
            <a:chOff x="1455938" y="3036162"/>
            <a:chExt cx="5761608" cy="736846"/>
          </a:xfrm>
        </p:grpSpPr>
        <p:sp>
          <p:nvSpPr>
            <p:cNvPr id="21" name="직사각형 20"/>
            <p:cNvSpPr/>
            <p:nvPr/>
          </p:nvSpPr>
          <p:spPr>
            <a:xfrm>
              <a:off x="1455938" y="3036162"/>
              <a:ext cx="5761608" cy="73684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1600" y="3126879"/>
              <a:ext cx="559446" cy="494894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20890" y="3175655"/>
              <a:ext cx="484136" cy="462618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74348" y="3207537"/>
              <a:ext cx="548688" cy="387309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64870" y="3188970"/>
              <a:ext cx="376550" cy="398067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75121" y="3127397"/>
              <a:ext cx="613240" cy="494894"/>
            </a:xfrm>
            <a:prstGeom prst="rect">
              <a:avLst/>
            </a:prstGeom>
          </p:spPr>
        </p:pic>
      </p:grpSp>
      <p:sp>
        <p:nvSpPr>
          <p:cNvPr id="19" name="직사각형 18"/>
          <p:cNvSpPr/>
          <p:nvPr/>
        </p:nvSpPr>
        <p:spPr>
          <a:xfrm>
            <a:off x="9896725" y="1690688"/>
            <a:ext cx="1342404" cy="124975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&lt;Review&gt;</a:t>
            </a:r>
          </a:p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2862927" y="5642267"/>
            <a:ext cx="541537" cy="577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437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1162974" y="1882065"/>
            <a:ext cx="2752078" cy="4145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MyPage.tsx</a:t>
            </a:r>
            <a:r>
              <a:rPr lang="en-US" altLang="ko-KR" dirty="0"/>
              <a:t>(</a:t>
            </a:r>
            <a:r>
              <a:rPr lang="ko-KR" altLang="en-US" dirty="0"/>
              <a:t>비회원</a:t>
            </a:r>
            <a:r>
              <a:rPr lang="en-US" altLang="ko-KR" dirty="0"/>
              <a:t>-</a:t>
            </a:r>
            <a:r>
              <a:rPr lang="en-US" altLang="ko-KR" dirty="0" err="1"/>
              <a:t>Login.tsx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135601" y="1950057"/>
            <a:ext cx="64199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통계 페이지 이동 버튼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자신의 </a:t>
            </a:r>
            <a:r>
              <a:rPr lang="ko-KR" altLang="en-US" dirty="0" err="1"/>
              <a:t>후기글</a:t>
            </a:r>
            <a:r>
              <a:rPr lang="ko-KR" altLang="en-US" dirty="0"/>
              <a:t> 모음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친구목록</a:t>
            </a:r>
            <a:r>
              <a:rPr lang="en-US" altLang="ko-KR" dirty="0"/>
              <a:t>(</a:t>
            </a:r>
            <a:r>
              <a:rPr lang="ko-KR" altLang="en-US" dirty="0"/>
              <a:t>일종의 </a:t>
            </a:r>
            <a:r>
              <a:rPr lang="ko-KR" altLang="en-US" dirty="0" err="1"/>
              <a:t>팔로우</a:t>
            </a:r>
            <a:r>
              <a:rPr lang="en-US" altLang="ko-KR" dirty="0"/>
              <a:t>, </a:t>
            </a:r>
            <a:r>
              <a:rPr lang="ko-KR" altLang="en-US" dirty="0" err="1"/>
              <a:t>피드에서</a:t>
            </a:r>
            <a:r>
              <a:rPr lang="ko-KR" altLang="en-US" dirty="0"/>
              <a:t> </a:t>
            </a:r>
            <a:r>
              <a:rPr lang="ko-KR" altLang="en-US" dirty="0" err="1"/>
              <a:t>후기글</a:t>
            </a:r>
            <a:r>
              <a:rPr lang="ko-KR" altLang="en-US" dirty="0"/>
              <a:t> 확인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098" name="Picture 2" descr="Follow my page on Instagram. | Islam Amino ☪ Amin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34" b="11133"/>
          <a:stretch/>
        </p:blipFill>
        <p:spPr bwMode="auto">
          <a:xfrm>
            <a:off x="1184400" y="1907930"/>
            <a:ext cx="2730652" cy="3827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/>
          <p:cNvGrpSpPr/>
          <p:nvPr/>
        </p:nvGrpSpPr>
        <p:grpSpPr>
          <a:xfrm>
            <a:off x="1162974" y="5725153"/>
            <a:ext cx="2752078" cy="431689"/>
            <a:chOff x="1455938" y="3036162"/>
            <a:chExt cx="5761608" cy="736846"/>
          </a:xfrm>
        </p:grpSpPr>
        <p:sp>
          <p:nvSpPr>
            <p:cNvPr id="21" name="직사각형 20"/>
            <p:cNvSpPr/>
            <p:nvPr/>
          </p:nvSpPr>
          <p:spPr>
            <a:xfrm>
              <a:off x="1455938" y="3036162"/>
              <a:ext cx="5761608" cy="73684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1600" y="3126879"/>
              <a:ext cx="559446" cy="494894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20890" y="3175655"/>
              <a:ext cx="484136" cy="462618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74348" y="3207537"/>
              <a:ext cx="548688" cy="387309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64870" y="3188970"/>
              <a:ext cx="376550" cy="398067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75121" y="3127397"/>
              <a:ext cx="613240" cy="494894"/>
            </a:xfrm>
            <a:prstGeom prst="rect">
              <a:avLst/>
            </a:prstGeom>
          </p:spPr>
        </p:pic>
      </p:grpSp>
      <p:sp>
        <p:nvSpPr>
          <p:cNvPr id="13" name="직사각형 12"/>
          <p:cNvSpPr/>
          <p:nvPr/>
        </p:nvSpPr>
        <p:spPr>
          <a:xfrm>
            <a:off x="10011396" y="2042356"/>
            <a:ext cx="1342404" cy="124975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&lt;Review&gt;</a:t>
            </a:r>
          </a:p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0011396" y="792604"/>
            <a:ext cx="1342404" cy="12497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&lt;User&gt;</a:t>
            </a:r>
          </a:p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3429071" y="5718079"/>
            <a:ext cx="541537" cy="577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2691842" y="2042356"/>
            <a:ext cx="1223210" cy="3906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통계 버튼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162974" y="3292108"/>
            <a:ext cx="2752078" cy="614067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>
            <a:stCxn id="3" idx="3"/>
          </p:cNvCxnSpPr>
          <p:nvPr/>
        </p:nvCxnSpPr>
        <p:spPr>
          <a:xfrm>
            <a:off x="3915052" y="3599142"/>
            <a:ext cx="2405849" cy="645735"/>
          </a:xfrm>
          <a:prstGeom prst="line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01306" y="5311259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자신의 </a:t>
            </a:r>
            <a:r>
              <a:rPr lang="ko-KR" altLang="en-US" dirty="0" err="1"/>
              <a:t>후기글들</a:t>
            </a:r>
            <a:r>
              <a:rPr lang="ko-KR" altLang="en-US" dirty="0"/>
              <a:t> 확인</a:t>
            </a:r>
          </a:p>
        </p:txBody>
      </p:sp>
      <p:pic>
        <p:nvPicPr>
          <p:cNvPr id="27" name="Picture 2" descr="한국청소년활동진흥원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507" y="3329029"/>
            <a:ext cx="488491" cy="5402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한국청소년활동진흥원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328" y="3340186"/>
            <a:ext cx="488491" cy="5402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지도 옵션 · NAVER Map iOS SD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892" y="3349863"/>
            <a:ext cx="498556" cy="4985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한국청소년활동진흥원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251" y="3338564"/>
            <a:ext cx="488491" cy="5402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직선 연결선 30"/>
          <p:cNvCxnSpPr/>
          <p:nvPr/>
        </p:nvCxnSpPr>
        <p:spPr>
          <a:xfrm>
            <a:off x="3946124" y="4998128"/>
            <a:ext cx="2010793" cy="397467"/>
          </a:xfrm>
          <a:prstGeom prst="line">
            <a:avLst/>
          </a:prstGeom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51973" y="4074798"/>
            <a:ext cx="39741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좋아요를</a:t>
            </a:r>
            <a:r>
              <a:rPr lang="ko-KR" altLang="en-US" dirty="0"/>
              <a:t> 선택했던 공고들을 표시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여기서 골라서 </a:t>
            </a:r>
            <a:r>
              <a:rPr lang="ko-KR" altLang="en-US" dirty="0" err="1"/>
              <a:t>상세보기로</a:t>
            </a:r>
            <a:r>
              <a:rPr lang="ko-KR" altLang="en-US" dirty="0"/>
              <a:t> 신청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5601" y="6377641"/>
            <a:ext cx="8048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이 페이지는 향후 다른 사용자 페이지에 </a:t>
            </a:r>
            <a:r>
              <a:rPr lang="ko-KR" altLang="en-US" dirty="0" err="1"/>
              <a:t>갔을때</a:t>
            </a:r>
            <a:r>
              <a:rPr lang="en-US" altLang="ko-KR" dirty="0"/>
              <a:t>, </a:t>
            </a:r>
            <a:r>
              <a:rPr lang="en-US" altLang="ko-KR" dirty="0" err="1"/>
              <a:t>userID</a:t>
            </a:r>
            <a:r>
              <a:rPr lang="ko-KR" altLang="en-US" dirty="0"/>
              <a:t>만 바꿔서 대체 가능</a:t>
            </a:r>
          </a:p>
        </p:txBody>
      </p:sp>
    </p:spTree>
    <p:extLst>
      <p:ext uri="{BB962C8B-B14F-4D97-AF65-F5344CB8AC3E}">
        <p14:creationId xmlns:p14="http://schemas.microsoft.com/office/powerpoint/2010/main" val="292618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1162974" y="1882065"/>
            <a:ext cx="2752078" cy="4145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Login.tsx</a:t>
            </a:r>
            <a:r>
              <a:rPr lang="en-US" altLang="ko-KR" dirty="0"/>
              <a:t>(</a:t>
            </a:r>
            <a:r>
              <a:rPr lang="ko-KR" altLang="en-US" dirty="0"/>
              <a:t>및 기타 회원 페이지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62651" y="2118167"/>
            <a:ext cx="64199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로그인 겸 회원가입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사용자 객체의 정규화를 위해</a:t>
            </a:r>
            <a:r>
              <a:rPr lang="en-US" altLang="ko-KR" dirty="0"/>
              <a:t>,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가입시 필요한 정보 입력하게 요청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초기 가입시</a:t>
            </a:r>
            <a:r>
              <a:rPr lang="en-US" altLang="ko-KR" dirty="0"/>
              <a:t>, </a:t>
            </a:r>
            <a:r>
              <a:rPr lang="ko-KR" altLang="en-US" dirty="0"/>
              <a:t>공고 몇 개 예시로 보여주고 사용자 선택을 통해 초기 알고리즘 데이터 확보</a:t>
            </a:r>
            <a:endParaRPr lang="en-US" altLang="ko-KR" dirty="0"/>
          </a:p>
        </p:txBody>
      </p:sp>
      <p:grpSp>
        <p:nvGrpSpPr>
          <p:cNvPr id="5" name="그룹 4"/>
          <p:cNvGrpSpPr/>
          <p:nvPr/>
        </p:nvGrpSpPr>
        <p:grpSpPr>
          <a:xfrm>
            <a:off x="1162974" y="5725153"/>
            <a:ext cx="2752078" cy="431689"/>
            <a:chOff x="1455938" y="3036162"/>
            <a:chExt cx="5761608" cy="736846"/>
          </a:xfrm>
        </p:grpSpPr>
        <p:sp>
          <p:nvSpPr>
            <p:cNvPr id="21" name="직사각형 20"/>
            <p:cNvSpPr/>
            <p:nvPr/>
          </p:nvSpPr>
          <p:spPr>
            <a:xfrm>
              <a:off x="1455938" y="3036162"/>
              <a:ext cx="5761608" cy="73684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1600" y="3126879"/>
              <a:ext cx="559446" cy="494894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0890" y="3175655"/>
              <a:ext cx="484136" cy="462618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4348" y="3207537"/>
              <a:ext cx="548688" cy="387309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64870" y="3188970"/>
              <a:ext cx="376550" cy="398067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75121" y="3127397"/>
              <a:ext cx="613240" cy="494894"/>
            </a:xfrm>
            <a:prstGeom prst="rect">
              <a:avLst/>
            </a:prstGeom>
          </p:spPr>
        </p:pic>
      </p:grpSp>
      <p:sp>
        <p:nvSpPr>
          <p:cNvPr id="14" name="직사각형 13"/>
          <p:cNvSpPr/>
          <p:nvPr/>
        </p:nvSpPr>
        <p:spPr>
          <a:xfrm>
            <a:off x="10011396" y="792604"/>
            <a:ext cx="1342404" cy="12497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&lt;User&gt;</a:t>
            </a:r>
          </a:p>
          <a:p>
            <a:pPr algn="ctr"/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8055" y="1928839"/>
            <a:ext cx="2663301" cy="368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07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1162974" y="1902016"/>
            <a:ext cx="2752078" cy="4145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606" y="1940136"/>
            <a:ext cx="2725446" cy="376436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Statistic.tsx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77644" y="2112885"/>
            <a:ext cx="64199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AI</a:t>
            </a:r>
            <a:r>
              <a:rPr lang="ko-KR" altLang="en-US" dirty="0"/>
              <a:t>가 가지고 있는 해당 사용자 정보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그동안 봉사 정보에 대한 통계</a:t>
            </a:r>
            <a:r>
              <a:rPr lang="en-US" altLang="ko-KR" dirty="0"/>
              <a:t>(</a:t>
            </a:r>
            <a:r>
              <a:rPr lang="ko-KR" altLang="en-US" dirty="0"/>
              <a:t>다른 사용자 평균과 비교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어떤 알고리즘으로 작동하는지 설명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버튼 </a:t>
            </a:r>
            <a:r>
              <a:rPr lang="ko-KR" altLang="en-US" dirty="0" err="1"/>
              <a:t>클릭시</a:t>
            </a:r>
            <a:r>
              <a:rPr lang="ko-KR" altLang="en-US" dirty="0"/>
              <a:t> 알고리즘 초기화</a:t>
            </a:r>
            <a:endParaRPr lang="en-US" altLang="ko-KR" dirty="0"/>
          </a:p>
        </p:txBody>
      </p:sp>
      <p:grpSp>
        <p:nvGrpSpPr>
          <p:cNvPr id="5" name="그룹 4"/>
          <p:cNvGrpSpPr/>
          <p:nvPr/>
        </p:nvGrpSpPr>
        <p:grpSpPr>
          <a:xfrm>
            <a:off x="1162974" y="5725153"/>
            <a:ext cx="2752078" cy="431689"/>
            <a:chOff x="1455938" y="3036162"/>
            <a:chExt cx="5761608" cy="736846"/>
          </a:xfrm>
        </p:grpSpPr>
        <p:sp>
          <p:nvSpPr>
            <p:cNvPr id="21" name="직사각형 20"/>
            <p:cNvSpPr/>
            <p:nvPr/>
          </p:nvSpPr>
          <p:spPr>
            <a:xfrm>
              <a:off x="1455938" y="3036162"/>
              <a:ext cx="5761608" cy="73684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1600" y="3126879"/>
              <a:ext cx="559446" cy="494894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20890" y="3175655"/>
              <a:ext cx="484136" cy="462618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74348" y="3207537"/>
              <a:ext cx="548688" cy="387309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64870" y="3188970"/>
              <a:ext cx="376550" cy="398067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75121" y="3127397"/>
              <a:ext cx="613240" cy="494894"/>
            </a:xfrm>
            <a:prstGeom prst="rect">
              <a:avLst/>
            </a:prstGeom>
          </p:spPr>
        </p:pic>
      </p:grpSp>
      <p:sp>
        <p:nvSpPr>
          <p:cNvPr id="15" name="모서리가 둥근 직사각형 14"/>
          <p:cNvSpPr/>
          <p:nvPr/>
        </p:nvSpPr>
        <p:spPr>
          <a:xfrm>
            <a:off x="2413545" y="2006353"/>
            <a:ext cx="1408598" cy="4616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알고리즘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초기화 버튼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0011396" y="792604"/>
            <a:ext cx="1342404" cy="12497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&lt;User&gt;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1813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그림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952" y="3873961"/>
            <a:ext cx="832140" cy="123590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54602" y="736847"/>
            <a:ext cx="9010835" cy="29562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360" y="1324639"/>
            <a:ext cx="1337714" cy="201679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597" y="1324638"/>
            <a:ext cx="1325896" cy="201679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146" y="1324637"/>
            <a:ext cx="1343180" cy="201679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727" y="1336083"/>
            <a:ext cx="1331554" cy="200535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8679" y="313344"/>
            <a:ext cx="4279788" cy="69268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1276" y="1324636"/>
            <a:ext cx="1329975" cy="2016799"/>
          </a:xfrm>
          <a:prstGeom prst="rect">
            <a:avLst/>
          </a:prstGeom>
        </p:spPr>
      </p:pic>
      <p:cxnSp>
        <p:nvCxnSpPr>
          <p:cNvPr id="15" name="직선 연결선 14"/>
          <p:cNvCxnSpPr>
            <a:stCxn id="9" idx="3"/>
            <a:endCxn id="13" idx="1"/>
          </p:cNvCxnSpPr>
          <p:nvPr/>
        </p:nvCxnSpPr>
        <p:spPr>
          <a:xfrm flipV="1">
            <a:off x="9393326" y="2333036"/>
            <a:ext cx="857950" cy="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4113" y="4280903"/>
            <a:ext cx="1355086" cy="2028548"/>
          </a:xfrm>
          <a:prstGeom prst="rect">
            <a:avLst/>
          </a:prstGeom>
        </p:spPr>
      </p:pic>
      <p:cxnSp>
        <p:nvCxnSpPr>
          <p:cNvPr id="18" name="직선 연결선 17"/>
          <p:cNvCxnSpPr>
            <a:stCxn id="22" idx="2"/>
            <a:endCxn id="17" idx="0"/>
          </p:cNvCxnSpPr>
          <p:nvPr/>
        </p:nvCxnSpPr>
        <p:spPr>
          <a:xfrm>
            <a:off x="1641618" y="3393295"/>
            <a:ext cx="1660038" cy="88760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741" y="1336083"/>
            <a:ext cx="1369754" cy="2057212"/>
          </a:xfrm>
          <a:prstGeom prst="rect">
            <a:avLst/>
          </a:prstGeom>
        </p:spPr>
      </p:pic>
      <p:cxnSp>
        <p:nvCxnSpPr>
          <p:cNvPr id="31" name="직선 연결선 30"/>
          <p:cNvCxnSpPr>
            <a:stCxn id="7" idx="2"/>
            <a:endCxn id="17" idx="0"/>
          </p:cNvCxnSpPr>
          <p:nvPr/>
        </p:nvCxnSpPr>
        <p:spPr>
          <a:xfrm flipH="1">
            <a:off x="3301656" y="3341437"/>
            <a:ext cx="15561" cy="93946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그림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8460" y="4280901"/>
            <a:ext cx="1285880" cy="1980734"/>
          </a:xfrm>
          <a:prstGeom prst="rect">
            <a:avLst/>
          </a:prstGeom>
        </p:spPr>
      </p:pic>
      <p:cxnSp>
        <p:nvCxnSpPr>
          <p:cNvPr id="36" name="직선 연결선 35"/>
          <p:cNvCxnSpPr>
            <a:stCxn id="8" idx="2"/>
            <a:endCxn id="34" idx="0"/>
          </p:cNvCxnSpPr>
          <p:nvPr/>
        </p:nvCxnSpPr>
        <p:spPr>
          <a:xfrm>
            <a:off x="5085545" y="3341437"/>
            <a:ext cx="4215855" cy="939464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>
            <a:stCxn id="9" idx="2"/>
            <a:endCxn id="34" idx="0"/>
          </p:cNvCxnSpPr>
          <p:nvPr/>
        </p:nvCxnSpPr>
        <p:spPr>
          <a:xfrm>
            <a:off x="8721736" y="3341436"/>
            <a:ext cx="579664" cy="939465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그림 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7525" y="4403907"/>
            <a:ext cx="1283659" cy="1981299"/>
          </a:xfrm>
          <a:prstGeom prst="rect">
            <a:avLst/>
          </a:prstGeom>
        </p:spPr>
      </p:pic>
      <p:cxnSp>
        <p:nvCxnSpPr>
          <p:cNvPr id="51" name="직선 연결선 50"/>
          <p:cNvCxnSpPr>
            <a:stCxn id="47" idx="3"/>
            <a:endCxn id="9" idx="2"/>
          </p:cNvCxnSpPr>
          <p:nvPr/>
        </p:nvCxnSpPr>
        <p:spPr>
          <a:xfrm flipV="1">
            <a:off x="7651184" y="3341436"/>
            <a:ext cx="1070552" cy="2053121"/>
          </a:xfrm>
          <a:prstGeom prst="line">
            <a:avLst/>
          </a:prstGeom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직선 연결선 92"/>
          <p:cNvCxnSpPr>
            <a:stCxn id="10" idx="2"/>
            <a:endCxn id="47" idx="0"/>
          </p:cNvCxnSpPr>
          <p:nvPr/>
        </p:nvCxnSpPr>
        <p:spPr>
          <a:xfrm>
            <a:off x="6953504" y="3341436"/>
            <a:ext cx="55851" cy="1062471"/>
          </a:xfrm>
          <a:prstGeom prst="line">
            <a:avLst/>
          </a:prstGeom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직선 연결선 97"/>
          <p:cNvCxnSpPr>
            <a:stCxn id="47" idx="1"/>
            <a:endCxn id="17" idx="3"/>
          </p:cNvCxnSpPr>
          <p:nvPr/>
        </p:nvCxnSpPr>
        <p:spPr>
          <a:xfrm flipH="1" flipV="1">
            <a:off x="3979199" y="5295177"/>
            <a:ext cx="2388326" cy="99380"/>
          </a:xfrm>
          <a:prstGeom prst="line">
            <a:avLst/>
          </a:prstGeom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직선 연결선 102"/>
          <p:cNvCxnSpPr>
            <a:stCxn id="9" idx="2"/>
            <a:endCxn id="17" idx="0"/>
          </p:cNvCxnSpPr>
          <p:nvPr/>
        </p:nvCxnSpPr>
        <p:spPr>
          <a:xfrm flipH="1">
            <a:off x="3301656" y="3341436"/>
            <a:ext cx="5420080" cy="939467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998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DTO(</a:t>
            </a:r>
            <a:r>
              <a:rPr lang="ko-KR" altLang="en-US" dirty="0"/>
              <a:t>객체</a:t>
            </a:r>
            <a:r>
              <a:rPr lang="en-US" altLang="ko-KR" dirty="0"/>
              <a:t>) &amp; ERD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74633" y="1770587"/>
            <a:ext cx="3600000" cy="4680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&lt;User&gt;</a:t>
            </a:r>
          </a:p>
          <a:p>
            <a:pPr algn="ctr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270633" y="1770587"/>
            <a:ext cx="3600000" cy="4680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&lt;Review&gt;</a:t>
            </a:r>
          </a:p>
          <a:p>
            <a:pPr algn="ctr"/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322633" y="1770587"/>
            <a:ext cx="3600000" cy="4680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&lt;Bong&gt;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3077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추천 </a:t>
            </a:r>
            <a:r>
              <a:rPr lang="en-US" altLang="ko-KR" dirty="0"/>
              <a:t>AI </a:t>
            </a:r>
            <a:r>
              <a:rPr lang="ko-KR" altLang="en-US" dirty="0"/>
              <a:t>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927" y="1917577"/>
            <a:ext cx="587051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데이터</a:t>
            </a:r>
            <a:r>
              <a:rPr lang="en-US" altLang="ko-KR" dirty="0"/>
              <a:t>&gt;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최초 </a:t>
            </a:r>
            <a:r>
              <a:rPr lang="ko-KR" altLang="en-US" dirty="0" err="1"/>
              <a:t>회원가입시</a:t>
            </a:r>
            <a:r>
              <a:rPr lang="ko-KR" altLang="en-US" dirty="0"/>
              <a:t> 예시로 보여주는 공고 선택 내용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공고에서 좋아요</a:t>
            </a:r>
            <a:r>
              <a:rPr lang="en-US" altLang="ko-KR" dirty="0"/>
              <a:t>/</a:t>
            </a:r>
            <a:r>
              <a:rPr lang="ko-KR" altLang="en-US" dirty="0"/>
              <a:t>싫어요 현황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상세보기에서 신청을 했던 내역</a:t>
            </a:r>
            <a:r>
              <a:rPr lang="en-US" altLang="ko-KR" dirty="0"/>
              <a:t>(</a:t>
            </a:r>
            <a:r>
              <a:rPr lang="ko-KR" altLang="en-US" dirty="0" err="1"/>
              <a:t>후기글</a:t>
            </a:r>
            <a:r>
              <a:rPr lang="ko-KR" altLang="en-US" dirty="0"/>
              <a:t> 작성도 감안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 err="1"/>
              <a:t>피드에서</a:t>
            </a:r>
            <a:r>
              <a:rPr lang="ko-KR" altLang="en-US" dirty="0"/>
              <a:t> 주로 클릭했던 </a:t>
            </a:r>
            <a:r>
              <a:rPr lang="ko-KR" altLang="en-US" dirty="0" err="1"/>
              <a:t>후기글과</a:t>
            </a:r>
            <a:r>
              <a:rPr lang="ko-KR" altLang="en-US" dirty="0"/>
              <a:t> 연관된 공고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활용</a:t>
            </a:r>
            <a:r>
              <a:rPr lang="en-US" altLang="ko-KR" dirty="0"/>
              <a:t>&gt;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슬라이더에 표시되는 공고에 반영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피드에</a:t>
            </a:r>
            <a:r>
              <a:rPr lang="ko-KR" altLang="en-US" dirty="0"/>
              <a:t> 표시되는 </a:t>
            </a:r>
            <a:r>
              <a:rPr lang="ko-KR" altLang="en-US" dirty="0" err="1"/>
              <a:t>후기글</a:t>
            </a:r>
            <a:r>
              <a:rPr lang="en-US" altLang="ko-KR" dirty="0"/>
              <a:t>(</a:t>
            </a:r>
            <a:r>
              <a:rPr lang="ko-KR" altLang="en-US" dirty="0"/>
              <a:t>공고 관련</a:t>
            </a:r>
            <a:r>
              <a:rPr lang="en-US" altLang="ko-KR" dirty="0"/>
              <a:t>)</a:t>
            </a:r>
            <a:r>
              <a:rPr lang="ko-KR" altLang="en-US" dirty="0"/>
              <a:t>에 반영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객체</a:t>
            </a:r>
            <a:r>
              <a:rPr lang="en-US" altLang="ko-KR" dirty="0"/>
              <a:t>-</a:t>
            </a:r>
            <a:r>
              <a:rPr lang="ko-KR" altLang="en-US" dirty="0"/>
              <a:t>객체 예측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사용자 객체 </a:t>
            </a:r>
            <a:r>
              <a:rPr lang="en-US" altLang="ko-KR" dirty="0"/>
              <a:t>– </a:t>
            </a:r>
            <a:r>
              <a:rPr lang="ko-KR" altLang="en-US" dirty="0"/>
              <a:t>공고 객체</a:t>
            </a: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7785717" y="1855433"/>
            <a:ext cx="3409025" cy="36487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일단 빅데이터로 알고리즘 형식으로 </a:t>
            </a:r>
            <a:r>
              <a:rPr lang="ko-KR" altLang="en-US" dirty="0" err="1"/>
              <a:t>갈껀데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가능하다면 모델 활용</a:t>
            </a:r>
            <a:r>
              <a:rPr lang="en-US" altLang="ko-KR" dirty="0"/>
              <a:t>!!!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b="1" dirty="0"/>
              <a:t>*</a:t>
            </a:r>
            <a:r>
              <a:rPr lang="ko-KR" altLang="en-US" b="1" dirty="0"/>
              <a:t>모델 </a:t>
            </a:r>
            <a:r>
              <a:rPr lang="ko-KR" altLang="en-US" b="1" dirty="0" err="1"/>
              <a:t>활용시</a:t>
            </a:r>
            <a:r>
              <a:rPr lang="en-US" altLang="ko-KR" b="1" dirty="0"/>
              <a:t>, </a:t>
            </a:r>
            <a:r>
              <a:rPr lang="ko-KR" altLang="en-US" b="1" dirty="0"/>
              <a:t>사용자만 입력되면 </a:t>
            </a:r>
            <a:r>
              <a:rPr lang="ko-KR" altLang="en-US" b="1" dirty="0" err="1"/>
              <a:t>사전학습</a:t>
            </a:r>
            <a:r>
              <a:rPr lang="ko-KR" altLang="en-US" b="1" dirty="0"/>
              <a:t> 기반으로 좋아할 공고 예측</a:t>
            </a:r>
            <a:endParaRPr lang="en-US" altLang="ko-KR" b="1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7300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그림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29" y="4757655"/>
            <a:ext cx="1250946" cy="185791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193" y="4598771"/>
            <a:ext cx="1337714" cy="201679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596" y="4598770"/>
            <a:ext cx="1325896" cy="201679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6149" y="1006203"/>
            <a:ext cx="1343180" cy="201679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7116" y="1006203"/>
            <a:ext cx="1331554" cy="2005353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109" y="518221"/>
            <a:ext cx="1329975" cy="201679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468" y="2585268"/>
            <a:ext cx="1355086" cy="2028548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457" y="954344"/>
            <a:ext cx="1369754" cy="2057212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8531" y="1209093"/>
            <a:ext cx="1285880" cy="1980734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6491" y="2854235"/>
            <a:ext cx="1283659" cy="198129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43929" y="419786"/>
            <a:ext cx="221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좋아요</a:t>
            </a:r>
            <a:r>
              <a:rPr lang="en-US" altLang="ko-KR" dirty="0"/>
              <a:t>/</a:t>
            </a:r>
            <a:r>
              <a:rPr lang="ko-KR" altLang="en-US" dirty="0"/>
              <a:t>싫어요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0976" y="407080"/>
            <a:ext cx="221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좋아요</a:t>
            </a:r>
            <a:r>
              <a:rPr lang="en-US" altLang="ko-KR" dirty="0"/>
              <a:t>/</a:t>
            </a:r>
            <a:r>
              <a:rPr lang="ko-KR" altLang="en-US" dirty="0"/>
              <a:t>싫어요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557997" y="210081"/>
            <a:ext cx="933278" cy="91261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Review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9926348" y="3758819"/>
            <a:ext cx="933278" cy="9126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User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410651" y="210081"/>
            <a:ext cx="933278" cy="9126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Bong</a:t>
            </a:r>
          </a:p>
        </p:txBody>
      </p:sp>
      <p:cxnSp>
        <p:nvCxnSpPr>
          <p:cNvPr id="28" name="직선 연결선 27"/>
          <p:cNvCxnSpPr>
            <a:stCxn id="17" idx="3"/>
            <a:endCxn id="10" idx="1"/>
          </p:cNvCxnSpPr>
          <p:nvPr/>
        </p:nvCxnSpPr>
        <p:spPr>
          <a:xfrm flipV="1">
            <a:off x="2158554" y="2008880"/>
            <a:ext cx="1788562" cy="1590662"/>
          </a:xfrm>
          <a:prstGeom prst="line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직선 연결선 31"/>
          <p:cNvCxnSpPr>
            <a:stCxn id="47" idx="3"/>
            <a:endCxn id="9" idx="1"/>
          </p:cNvCxnSpPr>
          <p:nvPr/>
        </p:nvCxnSpPr>
        <p:spPr>
          <a:xfrm flipV="1">
            <a:off x="5220150" y="2014603"/>
            <a:ext cx="1745999" cy="1830282"/>
          </a:xfrm>
          <a:prstGeom prst="line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61307" y="40705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8993070" y="3758819"/>
            <a:ext cx="933278" cy="91261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Review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8059792" y="3758820"/>
            <a:ext cx="933278" cy="9126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Bong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26820" y="184320"/>
            <a:ext cx="933278" cy="9126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User</a:t>
            </a:r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452" y="1279173"/>
            <a:ext cx="559446" cy="494894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2935" y="4071004"/>
            <a:ext cx="484136" cy="462618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0250" y="1479007"/>
            <a:ext cx="548688" cy="387309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059" y="5186756"/>
            <a:ext cx="376550" cy="398067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51377" y="1348760"/>
            <a:ext cx="613240" cy="494894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3337" y="5306346"/>
            <a:ext cx="376550" cy="39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5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2229</TotalTime>
  <Words>710</Words>
  <Application>Microsoft Office PowerPoint</Application>
  <PresentationFormat>와이드스크린</PresentationFormat>
  <Paragraphs>166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Symbol</vt:lpstr>
      <vt:lpstr>Office 테마</vt:lpstr>
      <vt:lpstr>기획 구체화</vt:lpstr>
      <vt:lpstr>핵심주제</vt:lpstr>
      <vt:lpstr>[Component] NavBar.tsx</vt:lpstr>
      <vt:lpstr>Slider.tsx (AI 추천)</vt:lpstr>
      <vt:lpstr>Bong.tsx (공고 상세보기)</vt:lpstr>
      <vt:lpstr>Write.tsx</vt:lpstr>
      <vt:lpstr>Review.tsx</vt:lpstr>
      <vt:lpstr>Search.tsx</vt:lpstr>
      <vt:lpstr>AddCard.tsx(비회원-Login.tsx)</vt:lpstr>
      <vt:lpstr>Feed.tsx(AI 추천)</vt:lpstr>
      <vt:lpstr>MyPage.tsx(비회원-Login.tsx)</vt:lpstr>
      <vt:lpstr>Login.tsx(및 기타 회원 페이지)</vt:lpstr>
      <vt:lpstr>Statistic.tsx</vt:lpstr>
      <vt:lpstr>PowerPoint 프레젠테이션</vt:lpstr>
      <vt:lpstr>DTO(객체) &amp; ERD</vt:lpstr>
      <vt:lpstr>추천 AI 설계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임스 제</cp:lastModifiedBy>
  <cp:revision>32</cp:revision>
  <dcterms:created xsi:type="dcterms:W3CDTF">2025-01-16T02:09:01Z</dcterms:created>
  <dcterms:modified xsi:type="dcterms:W3CDTF">2025-01-19T08:54:55Z</dcterms:modified>
</cp:coreProperties>
</file>